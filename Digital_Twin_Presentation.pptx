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0066CC"/>
                </a:solidFill>
              </a:rPr>
              <a:t>Digital Twin Career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Generative AI Project</a:t>
            </a:r>
          </a:p>
          <a:p/>
          <a:p>
            <a:r>
              <a:t>Автор: Alydin</a:t>
            </a:r>
          </a:p>
          <a:p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3366"/>
                </a:solidFill>
              </a:rPr>
              <a:t>О проекте: Digital Twin Career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Цель: Создать интеллектуального карьерного ИИ-ассистента.</a:t>
            </a:r>
          </a:p>
          <a:p>
            <a:pPr>
              <a:defRPr sz="2000"/>
            </a:pPr>
            <a:r>
              <a:t>Анализ профиля: Извлечение навыков из CV, LinkedIn и NotebookLM.</a:t>
            </a:r>
          </a:p>
          <a:p>
            <a:pPr>
              <a:defRPr sz="2000"/>
            </a:pPr>
            <a:r>
              <a:t>Карьерный трек: Предсказание идеальных ролей с помощью ML.</a:t>
            </a:r>
          </a:p>
          <a:p>
            <a:pPr>
              <a:defRPr sz="2000"/>
            </a:pPr>
            <a:r>
              <a:t>Персонализация: План развития (Roadmap) и вопросы для интервью.</a:t>
            </a:r>
          </a:p>
          <a:p>
            <a:pPr>
              <a:defRPr sz="2000"/>
            </a:pPr>
            <a:r>
              <a:t>GenAI: Интеграция с LLM (Anthropic / OpenAI / Gemini).</a:t>
            </a:r>
          </a:p>
          <a:p>
            <a:pPr>
              <a:defRPr sz="2000"/>
            </a:pPr>
            <a:r>
              <a:t>Строгая 5-уровневая архитектура по требованиям проекта.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3366"/>
                </a:solidFill>
              </a:rPr>
              <a:t>Архитектура Системы (5 Слоёв)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1. Platform Layer: Интеграция данных (PDF, LinkedIn, MCP).</a:t>
            </a:r>
          </a:p>
          <a:p>
            <a:pPr>
              <a:defRPr sz="2000"/>
            </a:pPr>
            <a:r>
              <a:t>2. Model Layer: Классический ML (Косинусное сходство, TF-IDF).</a:t>
            </a:r>
          </a:p>
          <a:p>
            <a:pPr>
              <a:defRPr sz="2000"/>
            </a:pPr>
            <a:r>
              <a:t>3. Agent Layer: Автономные ИИ-агенты и Web Browsing.</a:t>
            </a:r>
          </a:p>
          <a:p>
            <a:pPr>
              <a:defRPr sz="2000"/>
            </a:pPr>
            <a:r>
              <a:t>4. Application Layer: Streamlit UI (8 вкладок, виджеты).</a:t>
            </a:r>
          </a:p>
          <a:p>
            <a:pPr>
              <a:defRPr sz="2000"/>
            </a:pPr>
            <a:r>
              <a:t>5. Infrastructure Layer: Локальное/Облачное выполнение, API.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3366"/>
                </a:solidFill>
              </a:rPr>
              <a:t>Слой 1: Platform Layer (Интеграция Данных)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Универсальный парсер профиля:</a:t>
            </a:r>
          </a:p>
          <a:p>
            <a:pPr>
              <a:defRPr sz="2000"/>
            </a:pPr>
            <a:r>
              <a:t>  • PDF Резюме (pdfplumber + regex/LLM)</a:t>
            </a:r>
          </a:p>
          <a:p>
            <a:pPr>
              <a:defRPr sz="2000"/>
            </a:pPr>
            <a:r>
              <a:t>  • LinkedIn Import (Поддержка PDF экспорта и текста)</a:t>
            </a:r>
          </a:p>
          <a:p>
            <a:pPr>
              <a:defRPr sz="2000"/>
            </a:pPr>
            <a:r>
              <a:t>Интеграция с Google NotebookLM:</a:t>
            </a:r>
          </a:p>
          <a:p>
            <a:pPr>
              <a:defRPr sz="2000"/>
            </a:pPr>
            <a:r>
              <a:t>  • Использование протокола MCP (Model Context Protocol).</a:t>
            </a:r>
          </a:p>
          <a:p>
            <a:pPr>
              <a:defRPr sz="2000"/>
            </a:pPr>
            <a:r>
              <a:t>  • Извлечение базы знаний напрямую через notebooklm-mcp-server.</a:t>
            </a:r>
          </a:p>
          <a:p>
            <a:pPr>
              <a:defRPr sz="2000"/>
            </a:pPr>
            <a:r>
              <a:t>Датасет: Расширенная база 21 профессии × 8+ навыков.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3366"/>
                </a:solidFill>
              </a:rPr>
              <a:t>Слой 2: Model Layer (Алгоритмы)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Классический Machine Learning (scikit-learn):</a:t>
            </a:r>
          </a:p>
          <a:p>
            <a:pPr>
              <a:defRPr sz="2000"/>
            </a:pPr>
            <a:r>
              <a:t>  • TF-IDF векторизация навыков.</a:t>
            </a:r>
          </a:p>
          <a:p>
            <a:pPr>
              <a:defRPr sz="2000"/>
            </a:pPr>
            <a:r>
              <a:t>  • Cosine Similarity (Косинусное сходство).</a:t>
            </a:r>
          </a:p>
          <a:p>
            <a:pPr>
              <a:defRPr sz="2000"/>
            </a:pPr>
            <a:r>
              <a:t>Метрики совпадения:</a:t>
            </a:r>
          </a:p>
          <a:p>
            <a:pPr>
              <a:defRPr sz="2000"/>
            </a:pPr>
            <a:r>
              <a:t>  • Hybrid Match Score: комбинация семантики и точного пересечения.</a:t>
            </a:r>
          </a:p>
          <a:p>
            <a:pPr>
              <a:defRPr sz="2000"/>
            </a:pPr>
            <a:r>
              <a:t>Нормализация:</a:t>
            </a:r>
          </a:p>
          <a:p>
            <a:pPr>
              <a:defRPr sz="2000"/>
            </a:pPr>
            <a:r>
              <a:t>  • Приведение синонимов (k8s -&gt; kubernetes) для точности.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3366"/>
                </a:solidFill>
              </a:rPr>
              <a:t>Слой 3: Agent Layer (GenAI &amp; Web)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Автономные агенты с доступом в интернет:</a:t>
            </a:r>
          </a:p>
          <a:p>
            <a:pPr>
              <a:defRPr sz="2000"/>
            </a:pPr>
            <a:r>
              <a:t>  • Web Searcher: DuckDuckGo парсинг + GitHub Search API.</a:t>
            </a:r>
          </a:p>
          <a:p>
            <a:pPr>
              <a:defRPr sz="2000"/>
            </a:pPr>
            <a:r>
              <a:t>  • Resource Finder: Динамический поиск курсов и документации.</a:t>
            </a:r>
          </a:p>
          <a:p>
            <a:pPr>
              <a:defRPr sz="2000"/>
            </a:pPr>
            <a:r>
              <a:t>Генеративные агенты:</a:t>
            </a:r>
          </a:p>
          <a:p>
            <a:pPr>
              <a:defRPr sz="2000"/>
            </a:pPr>
            <a:r>
              <a:t>  • Career Coach: Пошаговый план обучения (Roadmap).</a:t>
            </a:r>
          </a:p>
          <a:p>
            <a:pPr>
              <a:defRPr sz="2000"/>
            </a:pPr>
            <a:r>
              <a:t>  • Interview Coach: Подготовка вопросов по 'слабым местам'.</a:t>
            </a:r>
          </a:p>
          <a:p>
            <a:pPr>
              <a:defRPr sz="2000"/>
            </a:pPr>
            <a:r>
              <a:t>  • Live Coach: Чат-бот с переключением персон.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3366"/>
                </a:solidFill>
              </a:rPr>
              <a:t>Слой 4: Application Layer (UI)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Streamlit UI с 8 вкладками.</a:t>
            </a:r>
          </a:p>
          <a:p>
            <a:pPr>
              <a:defRPr sz="2000"/>
            </a:pPr>
            <a:r>
              <a:t>Уникальные виджеты:</a:t>
            </a:r>
          </a:p>
          <a:p>
            <a:pPr>
              <a:defRPr sz="2000"/>
            </a:pPr>
            <a:r>
              <a:t>  • Balance Wheel: Радар-чарт (Hard vs Soft skills).</a:t>
            </a:r>
          </a:p>
          <a:p>
            <a:pPr>
              <a:defRPr sz="2000"/>
            </a:pPr>
            <a:r>
              <a:t>  • RPG Tech Tree: Дерево навыков в стиле видеоигры (Locked/Unlocked).</a:t>
            </a:r>
          </a:p>
          <a:p>
            <a:pPr>
              <a:defRPr sz="2000"/>
            </a:pPr>
            <a:r>
              <a:t>  • Semester Wrapped: Экспорт карточки-достижения для LinkedIn.</a:t>
            </a:r>
          </a:p>
          <a:p>
            <a:pPr>
              <a:defRPr sz="2000"/>
            </a:pPr>
            <a:r>
              <a:t>  • Live Coach: Интерактивный чат с режимом 'Roast My Stack'.</a:t>
            </a:r>
          </a:p>
          <a:p>
            <a:pPr>
              <a:defRPr sz="2000"/>
            </a:pPr>
            <a:r>
              <a:t>  • Telegram Jobs: Просмотр подходящих вакансий.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3366"/>
                </a:solidFill>
              </a:rPr>
              <a:t>Демонстрация (User 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1. Ввод данных: Загрузка PDF / LinkedIn / NotebookLM MCP.</a:t>
            </a:r>
          </a:p>
          <a:p>
            <a:pPr>
              <a:defRPr sz="2000"/>
            </a:pPr>
            <a:r>
              <a:t>2. Predict: ML рассчитывает процент совпадения с 21 профессией.</a:t>
            </a:r>
          </a:p>
          <a:p>
            <a:pPr>
              <a:defRPr sz="2000"/>
            </a:pPr>
            <a:r>
              <a:t>3. Аналитика: Изучение RPG Tech Tree и Balance Wheel.</a:t>
            </a:r>
          </a:p>
          <a:p>
            <a:pPr>
              <a:defRPr sz="2000"/>
            </a:pPr>
            <a:r>
              <a:t>4. Общение с ИИ: 'Прожарка' (Roast) стека в Live Coach.</a:t>
            </a:r>
          </a:p>
          <a:p>
            <a:pPr>
              <a:defRPr sz="2000"/>
            </a:pPr>
            <a:r>
              <a:t>5. Планирование: Генерация Roadmap и тренировка Interview.</a:t>
            </a:r>
          </a:p>
          <a:p>
            <a:pPr>
              <a:defRPr sz="2000"/>
            </a:pPr>
            <a:r>
              <a:t>6. Результат: Поиск работы (Telegram Jobs) и скачивание Semester Wrapped.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3366"/>
                </a:solidFill>
              </a:rP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Полное соответствие требованиям Final Generative AI Project.</a:t>
            </a:r>
          </a:p>
          <a:p>
            <a:pPr>
              <a:defRPr sz="2000"/>
            </a:pPr>
            <a:r>
              <a:t>Реализованы все 5 слоёв архитектуры.</a:t>
            </a:r>
          </a:p>
          <a:p>
            <a:pPr>
              <a:defRPr sz="2000"/>
            </a:pPr>
            <a:r>
              <a:t>Использованы современные подходы:</a:t>
            </a:r>
          </a:p>
          <a:p>
            <a:pPr>
              <a:defRPr sz="2000"/>
            </a:pPr>
            <a:r>
              <a:t>  • MCP (Model Context Protocol).</a:t>
            </a:r>
          </a:p>
          <a:p>
            <a:pPr>
              <a:defRPr sz="2000"/>
            </a:pPr>
            <a:r>
              <a:t>  • Retrieval-Augmented Generation (RAG).</a:t>
            </a:r>
          </a:p>
          <a:p>
            <a:pPr>
              <a:defRPr sz="2000"/>
            </a:pPr>
            <a:r>
              <a:t>  • Agentic AI (Автономный поиск).</a:t>
            </a:r>
          </a:p>
          <a:p>
            <a:pPr>
              <a:defRPr sz="2000"/>
            </a:pPr>
            <a:r>
              <a:t>Проект готов к деплою на Streamlit Community Cloud.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